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Acquired at home</c:v>
                </c:pt>
              </c:strCache>
            </c:strRef>
          </c:tx>
          <c:spPr>
            <a:solidFill>
              <a:srgbClr val="176A8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20% peak cap</c:v>
                </c:pt>
                <c:pt idx="2">
                  <c:v>Uniform cut</c:v>
                </c:pt>
                <c:pt idx="3">
                  <c:v>Close small hall</c:v>
                </c:pt>
                <c:pt idx="4">
                  <c:v>Mask from day 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25.0</c:v>
                </c:pt>
                <c:pt idx="1">
                  <c:v>6.1</c:v>
                </c:pt>
                <c:pt idx="2">
                  <c:v>11.1</c:v>
                </c:pt>
                <c:pt idx="3">
                  <c:v>6.3</c:v>
                </c:pt>
                <c:pt idx="4">
                  <c:v>18.4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Acquired in a hall</c:v>
                </c:pt>
              </c:strCache>
            </c:strRef>
          </c:tx>
          <c:spPr>
            <a:solidFill>
              <a:srgbClr val="C4842D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20% peak cap</c:v>
                </c:pt>
                <c:pt idx="2">
                  <c:v>Uniform cut</c:v>
                </c:pt>
                <c:pt idx="3">
                  <c:v>Close small hall</c:v>
                </c:pt>
                <c:pt idx="4">
                  <c:v>Mask from day 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18.4</c:v>
                </c:pt>
                <c:pt idx="1">
                  <c:v>1.6</c:v>
                </c:pt>
                <c:pt idx="2">
                  <c:v>5.3</c:v>
                </c:pt>
                <c:pt idx="3">
                  <c:v>0.6</c:v>
                </c:pt>
                <c:pt idx="4">
                  <c:v>13.4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0"/>
            </a:solidFill>
          </a:ln>
        </c:spPr>
        <c:txPr>
          <a:bodyPr/>
          <a:lstStyle/>
          <a:p>
            <a:pPr>
              <a:defRPr sz="1200">
                <a:solidFill>
                  <a:srgbClr val="1C28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D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200" b="0">
                    <a:solidFill>
                      <a:srgbClr val="5C6B73"/>
                    </a:solidFill>
                    <a:latin typeface="Calibri"/>
                  </a:rPr>
                  <a:t>Mean secondary infections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5DDE0"/>
            </a:solidFill>
          </a:ln>
        </c:spPr>
        <c:txPr>
          <a:bodyPr/>
          <a:lstStyle/>
          <a:p>
            <a:pPr>
              <a:defRPr sz="1100">
                <a:solidFill>
                  <a:srgbClr val="5C6B7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C283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1C28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Infections avoided</c:v>
                </c:pt>
              </c:strCache>
            </c:strRef>
          </c:tx>
          <c:spPr>
            <a:solidFill>
              <a:srgbClr val="176A8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Cap vs
baseline</c:v>
                </c:pt>
                <c:pt idx="1">
                  <c:v>Uniform vs
baseline</c:v>
                </c:pt>
                <c:pt idx="2">
                  <c:v>Cap vs
uniform</c:v>
                </c:pt>
                <c:pt idx="3">
                  <c:v>Close hall vs
baseline</c:v>
                </c:pt>
                <c:pt idx="4">
                  <c:v>Mask vs
baseline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35.7</c:v>
                </c:pt>
                <c:pt idx="1">
                  <c:v>27.0</c:v>
                </c:pt>
                <c:pt idx="2">
                  <c:v>8.7</c:v>
                </c:pt>
                <c:pt idx="3">
                  <c:v>36.5</c:v>
                </c:pt>
                <c:pt idx="4">
                  <c:v>11.6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0"/>
            </a:solidFill>
          </a:ln>
        </c:spPr>
        <c:txPr>
          <a:bodyPr/>
          <a:lstStyle/>
          <a:p>
            <a:pPr>
              <a:defRPr sz="1200">
                <a:solidFill>
                  <a:srgbClr val="1C28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D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200" b="0">
                    <a:solidFill>
                      <a:srgbClr val="5C6B73"/>
                    </a:solidFill>
                    <a:latin typeface="Calibri"/>
                  </a:rPr>
                  <a:t>Mean secondary infections avoided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5DDE0"/>
            </a:solidFill>
          </a:ln>
        </c:spPr>
        <c:txPr>
          <a:bodyPr/>
          <a:lstStyle/>
          <a:p>
            <a:pPr>
              <a:defRPr sz="1100">
                <a:solidFill>
                  <a:srgbClr val="5C6B7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C28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Small-hall group</c:v>
                </c:pt>
              </c:strCache>
            </c:strRef>
          </c:tx>
          <c:spPr>
            <a:solidFill>
              <a:srgbClr val="A34B3A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20% peak cap</c:v>
                </c:pt>
                <c:pt idx="2">
                  <c:v>Uniform cut</c:v>
                </c:pt>
                <c:pt idx="3">
                  <c:v>Close small hall</c:v>
                </c:pt>
                <c:pt idx="4">
                  <c:v>Mask from day 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38.7</c:v>
                </c:pt>
                <c:pt idx="1">
                  <c:v>4.5</c:v>
                </c:pt>
                <c:pt idx="2">
                  <c:v>13.9</c:v>
                </c:pt>
                <c:pt idx="3">
                  <c:v>3.0</c:v>
                </c:pt>
                <c:pt idx="4">
                  <c:v>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Large-hall group</c:v>
                </c:pt>
              </c:strCache>
            </c:strRef>
          </c:tx>
          <c:spPr>
            <a:solidFill>
              <a:srgbClr val="176A8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20% peak cap</c:v>
                </c:pt>
                <c:pt idx="2">
                  <c:v>Uniform cut</c:v>
                </c:pt>
                <c:pt idx="3">
                  <c:v>Close small hall</c:v>
                </c:pt>
                <c:pt idx="4">
                  <c:v>Mask from day 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4.7</c:v>
                </c:pt>
                <c:pt idx="1">
                  <c:v>3.2</c:v>
                </c:pt>
                <c:pt idx="2">
                  <c:v>2.5</c:v>
                </c:pt>
                <c:pt idx="3">
                  <c:v>3.9</c:v>
                </c:pt>
                <c:pt idx="4">
                  <c:v>2.9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DE0"/>
            </a:solidFill>
          </a:ln>
        </c:spPr>
        <c:txPr>
          <a:bodyPr/>
          <a:lstStyle/>
          <a:p>
            <a:pPr>
              <a:defRPr sz="1200">
                <a:solidFill>
                  <a:srgbClr val="1C283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D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200" b="0">
                    <a:solidFill>
                      <a:srgbClr val="5C6B73"/>
                    </a:solidFill>
                    <a:latin typeface="Calibri"/>
                  </a:rPr>
                  <a:t>Mean secondary infections in the group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5DDE0"/>
            </a:solidFill>
          </a:ln>
        </c:spPr>
        <c:txPr>
          <a:bodyPr/>
          <a:lstStyle/>
          <a:p>
            <a:pPr>
              <a:defRPr sz="1100">
                <a:solidFill>
                  <a:srgbClr val="5C6B7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1C2833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1C28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6A8C"/>
                </a:solidFill>
                <a:latin typeface="Calibri"/>
              </a:rPr>
              <a:t>DELINEO  ·  LOCAL SIMULATION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Using the platform the way
Chang et al. did, and measuring
what they left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5D0D6"/>
                </a:solidFill>
                <a:latin typeface="Calibri"/>
              </a:rPr>
              <a:t>56 completed engine runs  ·  80 invented people  ·  4 simulated days  ·  10 paired seeds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B0B8"/>
                </a:solidFill>
                <a:latin typeface="Calibri"/>
              </a:rPr>
              <a:t>Engine 693e98c   ·   October 2026   ·   Methods study, not a Chicago or Barnsdall estimate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What this work produced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A usage study, run on the engine itself rather than on downloaded website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532120" cy="20574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73152" cy="20574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A8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916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Read the prior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Chang et al., Nature 2021, the KDD policy tool, and the hosted Barnsdall notebook (runs 187–196).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532120" cy="20574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463040"/>
            <a:ext cx="73152" cy="20574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6642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A8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16916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Named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24028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Denied visits have no household. Rankings are one metapopulation draw. Reopening only edits mobility. Hosted runs did not keep the schedule that was registered.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49039"/>
            <a:ext cx="5532120" cy="20574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49039"/>
            <a:ext cx="73152" cy="2057400"/>
          </a:xfrm>
          <a:prstGeom prst="rect">
            <a:avLst/>
          </a:prstGeom>
          <a:solidFill>
            <a:srgbClr val="C4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020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A8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7763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Ran the engine locally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56 new folders under runs/chang-gap. The website API was not called. Every manifest is complete.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749039"/>
            <a:ext cx="5532120" cy="20574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749039"/>
            <a:ext cx="73152" cy="2057400"/>
          </a:xfrm>
          <a:prstGeom prst="rect">
            <a:avLst/>
          </a:prstGeom>
          <a:solidFill>
            <a:srgbClr val="C4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395020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6A8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599" y="397763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3A4B"/>
                </a:solidFill>
                <a:latin typeface="Calibri"/>
              </a:rPr>
              <a:t>Scored the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26279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Same visit-hours removed two ways. Home infections counted separately. Ten seeds, same index cases.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Gaps in the work we started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Two sources: the Nature mobility model, and the earlier Delineo website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C6B73"/>
                </a:solidFill>
                <a:latin typeface="Calibri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41732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C6B73"/>
                </a:solidFill>
                <a:latin typeface="Calibri"/>
              </a:rPr>
              <a:t>What it established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4173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C6B73"/>
                </a:solidFill>
                <a:latin typeface="Calibri"/>
              </a:rPr>
              <a:t>What it does not resolve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11155680" cy="13716"/>
          </a:xfrm>
          <a:prstGeom prst="rect">
            <a:avLst/>
          </a:prstGeom>
          <a:solidFill>
            <a:srgbClr val="D5D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1155680" cy="128016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3A4B"/>
                </a:solidFill>
                <a:latin typeface="Calibri"/>
              </a:rPr>
              <a:t>Chang et al.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3055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A peak-occupancy cap prevents more infections than deleting the same visits evenly. A few venues dominate.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30552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A denied visit leaves the network. It is not reassigned to a household. People are census-block totals, not individuals.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83280"/>
            <a:ext cx="11155680" cy="128016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4787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3A4B"/>
                </a:solidFill>
                <a:latin typeface="Calibri"/>
              </a:rPr>
              <a:t>Chang et al. FAQ and KDD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54787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Thousands of mobility counterfactuals can be scanned for a metro area.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547872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Curfews, coming back later, and which real lever produces the new mobility were not tested. SafeGraph misses children and some venues.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00600"/>
            <a:ext cx="11155680" cy="128016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65192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B3A4B"/>
                </a:solidFill>
                <a:latin typeface="Calibri"/>
              </a:rPr>
              <a:t>Hosted Barnsdall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96519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School and venue hotspots are a useful question. Repeats were requested because seeds differ.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965192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In the saved audit, 9 of 10 runs stored a schedule that did not match the one registered. Initial infections differed, so arms were not paired.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The run that addresses those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Invented population. Identical schedules. The only structural difference is floor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4B"/>
                </a:solidFill>
                <a:latin typeface="Calibri"/>
              </a:rPr>
              <a:t>80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1732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20 households of four. One index case in each group, persons 0 and 40.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4B"/>
                </a:solidFill>
                <a:latin typeface="Calibri"/>
              </a:rPr>
              <a:t>Two halls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6888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40 people, same hours. Small hall entered as 50 m². Large hall 1,000 m².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39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4B"/>
                </a:solidFill>
                <a:latin typeface="Calibri"/>
              </a:rPr>
              <a:t>Four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520439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Peaks at 08:00, 12:00, and 17:00 (40 people). Seven other daytime hours have 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B3A4B"/>
                </a:solidFill>
                <a:latin typeface="Calibri"/>
              </a:rPr>
              <a:t>Five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572000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Baseline, 20% cap, matched uniform cut, close the small hall, mask from hour 24.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417320"/>
            <a:ext cx="3840480" cy="416052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600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VISIT BURDEN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9659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3A4B"/>
                </a:solidFill>
                <a:latin typeface="Calibri"/>
              </a:rPr>
              <a:t>1,408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4688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3"/>
                </a:solidFill>
                <a:latin typeface="Calibri"/>
              </a:rPr>
              <a:t>venue person-hours 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9718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3A4B"/>
                </a:solidFill>
                <a:latin typeface="Calibri"/>
              </a:rPr>
              <a:t>640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747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3"/>
                </a:solidFill>
                <a:latin typeface="Calibri"/>
              </a:rPr>
              <a:t>under both the cap and the uniform cut. Same hours removed.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160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B3A4B"/>
                </a:solidFill>
                <a:latin typeface="Calibri"/>
              </a:rPr>
              <a:t>704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634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3"/>
                </a:solidFill>
                <a:latin typeface="Calibri"/>
              </a:rPr>
              <a:t>after closing only the small hall. The large hall stays open.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3"/>
                </a:solidFill>
                <a:latin typeface="Calibri"/>
              </a:rPr>
              <a:t>The engine clamps areas under 65 m² up to 65 m², so the small hall was simulated at 65, not 50.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Where the secondary infections occurred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Mean over seeds 101–110. Index cases excluded. Home and hall counts add up in every run.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37160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138160" y="1554480"/>
            <a:ext cx="3566160" cy="448056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READ THIS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14884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43.4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4963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baseline secondary infections. 25.0 of them at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06324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7.7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4107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under the cap. Hall infections fall from 18.4 to 1.6.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977639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16.4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32511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under the uniform cut that removes the same hours.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92040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B3A4B"/>
                </a:solidFill>
                <a:latin typeface="Calibri"/>
              </a:rPr>
              <a:t>6.9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2395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after closing the small hall. 6.3 of those are at home.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The Chang comparison, on paired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Positive numbers are infections avoided. Intervals are the 10-seed bootstrap, not parameter uncertainty.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371600"/>
          <a:ext cx="69494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1417320"/>
            <a:ext cx="4206240" cy="470916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95% INTERVAL  ·  SEEDS STRICTLY LOWER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1488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Cap vs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4048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B73"/>
                </a:solidFill>
                <a:latin typeface="Calibri"/>
              </a:rPr>
              <a:t>32.9 – 38.8     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8986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Uniform vs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15468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B73"/>
                </a:solidFill>
                <a:latin typeface="Calibri"/>
              </a:rPr>
              <a:t>23.1 – 32.0     10 of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64845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Cap vs uniform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90448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B73"/>
                </a:solidFill>
                <a:latin typeface="Calibri"/>
              </a:rPr>
              <a:t>5.6 – 11.6     9 of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9826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Close small hall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65429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B73"/>
                </a:solidFill>
                <a:latin typeface="Calibri"/>
              </a:rPr>
              <a:t>35.3 – 38.1     10 of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148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Mask from hour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40410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C6B73"/>
                </a:solidFill>
                <a:latin typeface="Calibri"/>
              </a:rPr>
              <a:t>6.6 – 17.5     10 of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Same schedule, different room: the group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This is the crowded-venue mechanism from Chang et al., with income and race left out.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371600"/>
          <a:ext cx="74980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046720" y="1554480"/>
            <a:ext cx="3657600" cy="448056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737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WHAT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14884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38.7 vs 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651760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Baseline. Almost the whole small-hall group was infected. The large-hall group was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56616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B3A4B"/>
                </a:solidFill>
                <a:latin typeface="Calibri"/>
              </a:rPr>
              <a:t>4.5 vs 3.2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069080"/>
            <a:ext cx="324612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Under the cap. The group gap mostly disappears. The extra benefit of the cap over uniform thinning is in the crowded group (9.4 infections, interval 6.3–12.3).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How each gap was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The result column is the evaluation set only. Seed 100 was a discovery check and is excluded.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32588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WHAT THE RUN DID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2588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76A8C"/>
                </a:solidFill>
                <a:latin typeface="Calibri"/>
              </a:rPr>
              <a:t>WHAT THE 10 SEEDS SHOWED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Denied visit has nowhere to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664208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Overflow and closures stay home. Home infections are a separate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66420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Cap cut home infections by 18.9 and hall infections by 16.8. Closing the hall left 6.3 of 6.9 remaining infections at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One draw decides the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78608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Ten paired seeds, same index cases, mobility frozen.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57860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Cap beat the matched uniform cut on 9 seeds and tied seed 102 at 3. It was never worse.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Equity mixes density with who can stay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493008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Both groups travel the same hours. Only the room size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49300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Baseline 38.7 vs 4.7. Cap 4.5 vs 3.2. No income or race field was 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07408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Reopening analysis only edits visits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407408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Mask about half the population from hour 24, on the baseline trace.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0740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Masking avoided 11.6 infections (6.6–17.5), less than either mobility policy, with a wider interval.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21808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B3A4B"/>
                </a:solidFill>
                <a:latin typeface="Calibri"/>
              </a:rPr>
              <a:t>Website runs were not paired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321808"/>
            <a:ext cx="37947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Local runner. Hashed inputs. New folder per run. Network blocked.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321808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50 evaluation runs plus a zero-seed control that stayed uninfected for all 96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What these numbers are not, and what to send upstream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The policy ranking is for this clock and this population.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532120" cy="475488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6A8C"/>
                </a:solidFill>
                <a:latin typeface="Calibri"/>
              </a:rPr>
              <a:t>HELD BACK ON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74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Disease clock is the 4-hour / 24-hour fallback. DMP required is the higher-fidelity model. A 3-day required-mode check produced no secondary infections, so a 4-day comparison would not have shown a policy effect.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Not calibrated to cases. Ventilation coefficient 9 is the engine default, not a fitted value.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People who lose a visit go home. They do not switch halls or return later.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Ten seeds describe Monte Carlo error. They do not estimate a 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440680" cy="475488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4842D"/>
                </a:solidFill>
                <a:latin typeface="Calibri"/>
              </a:rPr>
              <a:t>ASK THE SIMULATION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Result metadata says deterministic:0 even when an explicit seed was used. The test locks that label in.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Default DMP mode is auto. A missed match still succeeds, on a 24-hour illness.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Rooms under 65 m² are simulated as 65 m², and the result does not record the clamped area.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C2833"/>
                </a:solidFill>
                <a:latin typeface="Calibri"/>
              </a:rPr>
              <a:t>Households keep a fixed ventilation of 150 m³/hr. Confirm that this is intentional.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B3A4B"/>
                </a:solidFill>
                <a:latin typeface="Calibri"/>
              </a:rPr>
              <a:t>Where the work is, and how a run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C6B73"/>
                </a:solidFill>
                <a:latin typeface="Calibri"/>
              </a:rPr>
              <a:t>The study script only writes inputs and calls the local runner. It does not modify the engine.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148840" cy="233172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6A8C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874519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Writes pap.json, three movement files, and five policy configs.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463040"/>
            <a:ext cx="2148840" cy="233172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16002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6A8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011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874519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Seed 100 only. Confirmed the small hall was the hotspot. Excluded from the means.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11496" y="1463040"/>
            <a:ext cx="2148840" cy="233172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16002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6A8C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011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468880"/>
            <a:ext cx="1874519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Baseline with no index case. Stayed at zero infections.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15784" y="1463040"/>
            <a:ext cx="2148840" cy="233172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16002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6A8C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011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468880"/>
            <a:ext cx="1874519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Seeds 101–110, five policies. Fifty new output folders.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20072" y="1463040"/>
            <a:ext cx="2148840" cy="233172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16002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76A8C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01168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468880"/>
            <a:ext cx="1874519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833"/>
                </a:solidFill>
                <a:latin typeface="Calibri"/>
              </a:rPr>
              <a:t>Keeps a run only if its manifest says complete. Writes the tables behind these slides.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6A8C"/>
                </a:solidFill>
                <a:latin typeface="Calibri"/>
              </a:rPr>
              <a:t>Writeup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389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docs/chang-gap-study.md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6A8C"/>
                </a:solidFill>
                <a:latin typeface="Calibri"/>
              </a:rPr>
              <a:t>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389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results/chang-gap/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6A8C"/>
                </a:solidFill>
                <a:latin typeface="Calibri"/>
              </a:rPr>
              <a:t>Each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3891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B3A4B"/>
                </a:solidFill>
                <a:latin typeface="Calibri"/>
              </a:rPr>
              <a:t>runs/chang-gap/&lt;arm&gt;-&lt;seed&gt;/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C2833"/>
                </a:solidFill>
                <a:latin typeface="Calibri"/>
              </a:rPr>
              <a:t>About 0.6 seconds and 150 MiB per run. The runner validates inputs, blocks network calls, records the engine commit and file hashes, then calls SimulationRunner.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6B73"/>
                </a:solidFill>
                <a:latin typeface="Calibri"/>
              </a:rPr>
              <a:t>Rerun from the delineo folder:  python scripts/chang_gap_study.py evaluate --seeds 101-110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Delineo local workflow  ·  invented two-hall population  ·  not a city estimate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C6B73"/>
                </a:solidFill>
                <a:latin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Delineo usage study</dc:title>
  <dc:subject>Local workflow results against Chang et al. 2021 gaps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